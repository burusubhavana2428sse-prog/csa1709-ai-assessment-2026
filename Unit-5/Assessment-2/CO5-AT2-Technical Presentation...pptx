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5" r:id="rId5"/>
    <p:sldId id="276" r:id="rId6"/>
    <p:sldId id="277" r:id="rId7"/>
    <p:sldId id="278" r:id="rId8"/>
    <p:sldId id="280" r:id="rId9"/>
    <p:sldId id="281" r:id="rId10"/>
    <p:sldId id="282" r:id="rId11"/>
    <p:sldId id="283" r:id="rId12"/>
    <p:sldId id="284" r:id="rId13"/>
    <p:sldId id="28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6" d="100"/>
          <a:sy n="106" d="100"/>
        </p:scale>
        <p:origin x="180" y="-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D1E940-802C-4DBC-BDF4-C87977589769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E149BA-7FF8-4315-82F0-93D799E8C2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935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149BA-7FF8-4315-82F0-93D799E8C20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374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FCB77-B03C-4588-9808-65A0972324F1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0E2E-A50E-43DC-873D-27D2E2394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FCB77-B03C-4588-9808-65A0972324F1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0E2E-A50E-43DC-873D-27D2E2394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FCB77-B03C-4588-9808-65A0972324F1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0E2E-A50E-43DC-873D-27D2E2394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FCB77-B03C-4588-9808-65A0972324F1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0E2E-A50E-43DC-873D-27D2E2394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FCB77-B03C-4588-9808-65A0972324F1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0E2E-A50E-43DC-873D-27D2E2394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FCB77-B03C-4588-9808-65A0972324F1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0E2E-A50E-43DC-873D-27D2E2394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FCB77-B03C-4588-9808-65A0972324F1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0E2E-A50E-43DC-873D-27D2E2394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FCB77-B03C-4588-9808-65A0972324F1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0E2E-A50E-43DC-873D-27D2E2394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FCB77-B03C-4588-9808-65A0972324F1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0E2E-A50E-43DC-873D-27D2E2394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FCB77-B03C-4588-9808-65A0972324F1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0E2E-A50E-43DC-873D-27D2E2394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FCB77-B03C-4588-9808-65A0972324F1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30E2E-A50E-43DC-873D-27D2E23949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FCB77-B03C-4588-9808-65A0972324F1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630E2E-A50E-43DC-873D-27D2E239497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11965"/>
            <a:ext cx="9399104" cy="181037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CO5- ASSESSMENT TOOL 2 Technical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353560"/>
            <a:ext cx="9144000" cy="771179"/>
          </a:xfrm>
        </p:spPr>
        <p:txBody>
          <a:bodyPr/>
          <a:lstStyle/>
          <a:p>
            <a:r>
              <a:rPr lang="en-I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CSA1709 - Artificial Intelligence</a:t>
            </a:r>
            <a:endParaRPr lang="en-I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4000" y="4562061"/>
            <a:ext cx="2342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GUIDED BY :</a:t>
            </a:r>
          </a:p>
          <a:p>
            <a:endParaRPr lang="en-I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IN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Dr.P.Rajaram</a:t>
            </a:r>
            <a:endParaRPr lang="en-I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3472" y="4515894"/>
            <a:ext cx="2638839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PRESENTED BY :</a:t>
            </a:r>
          </a:p>
          <a:p>
            <a:endParaRPr lang="en-I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IN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B.Bhavana</a:t>
            </a:r>
            <a:r>
              <a:rPr lang="en-IN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(192312428)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Questions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l="6579"/>
          <a:stretch>
            <a:fillRect/>
          </a:stretch>
        </p:blipFill>
        <p:spPr>
          <a:xfrm>
            <a:off x="838200" y="1338438"/>
            <a:ext cx="11267661" cy="48256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281" y="628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Rubrics for Calculation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880" y="894303"/>
            <a:ext cx="9816401" cy="58380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3177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Algorithm &amp; Logic Identification</a:t>
            </a:r>
            <a:endParaRPr lang="en-IN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2200275"/>
            <a:ext cx="10515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Question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IN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“</a:t>
            </a:r>
            <a:r>
              <a:rPr lang="en-IN" sz="2400" dirty="0"/>
              <a:t>Reverse Engineering of a Software/AI System”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Introduction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9378" y="1708272"/>
            <a:ext cx="8127859" cy="427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Algorithm &amp; Logic Identification</a:t>
            </a:r>
            <a:r>
              <a:rPr lang="en-IN" sz="2400" dirty="0"/>
              <a:t> is the process of understanding the </a:t>
            </a:r>
            <a:r>
              <a:rPr lang="en-IN" sz="2400" b="1" dirty="0"/>
              <a:t>algorithms, rules, and decision-making methods</a:t>
            </a:r>
            <a:r>
              <a:rPr lang="en-IN" sz="2400" dirty="0"/>
              <a:t> used inside an existing software or AI system.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dirty="0"/>
              <a:t>It is an important step in </a:t>
            </a:r>
            <a:r>
              <a:rPr lang="en-IN" sz="2400" b="1" dirty="0"/>
              <a:t>reverse engineering</a:t>
            </a:r>
            <a:r>
              <a:rPr lang="en-IN" sz="24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dirty="0"/>
              <a:t>The system’s </a:t>
            </a:r>
            <a:r>
              <a:rPr lang="en-IN" sz="2400" b="1" dirty="0"/>
              <a:t>input, processing, and output</a:t>
            </a:r>
            <a:r>
              <a:rPr lang="en-IN" sz="2400" dirty="0"/>
              <a:t> are studied.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dirty="0"/>
              <a:t>Code, data flow, system </a:t>
            </a:r>
            <a:r>
              <a:rPr lang="en-IN" sz="2400" dirty="0" err="1"/>
              <a:t>behavior</a:t>
            </a:r>
            <a:r>
              <a:rPr lang="en-IN" sz="2400" dirty="0"/>
              <a:t>, and conditions are </a:t>
            </a:r>
            <a:r>
              <a:rPr lang="en-IN" sz="2400" dirty="0" err="1"/>
              <a:t>analyzed</a:t>
            </a:r>
            <a:r>
              <a:rPr lang="en-IN" sz="24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dirty="0"/>
              <a:t>The identified logic is used to </a:t>
            </a:r>
            <a:r>
              <a:rPr lang="en-IN" sz="2400" b="1" dirty="0"/>
              <a:t>reconstruct the original system</a:t>
            </a:r>
            <a:r>
              <a:rPr lang="en-IN" sz="2400" dirty="0"/>
              <a:t>.</a:t>
            </a: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317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Problem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3818" y="2128045"/>
            <a:ext cx="7933082" cy="427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dirty="0"/>
              <a:t>The internal working of an existing software/AI system may not be clearly documented.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dirty="0"/>
              <a:t>It is difficult to identify the </a:t>
            </a:r>
            <a:r>
              <a:rPr lang="en-IN" sz="2400" b="1" dirty="0"/>
              <a:t>algorithms and decision-making rules</a:t>
            </a:r>
            <a:r>
              <a:rPr lang="en-IN" sz="2400" dirty="0"/>
              <a:t> directly.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dirty="0"/>
              <a:t>The relationship between </a:t>
            </a:r>
            <a:r>
              <a:rPr lang="en-IN" sz="2400" b="1" dirty="0"/>
              <a:t>input, processing, and output</a:t>
            </a:r>
            <a:r>
              <a:rPr lang="en-IN" sz="2400" dirty="0"/>
              <a:t> needs to be understood.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dirty="0"/>
              <a:t>Different modules may use different algorithms and logic.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dirty="0"/>
              <a:t>Therefore, </a:t>
            </a:r>
            <a:r>
              <a:rPr lang="en-IN" sz="2400" b="1" dirty="0"/>
              <a:t>reverse engineering techniques</a:t>
            </a:r>
            <a:r>
              <a:rPr lang="en-IN" sz="2400" dirty="0"/>
              <a:t> are required to identify and reconstruct the system logic.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Reconstructed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8871" y="2274913"/>
            <a:ext cx="9820644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User/Input        Data Collection      Preprocessing       AI Processing      Decision Module         Output /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871" y="1690413"/>
            <a:ext cx="17219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Flow</a:t>
            </a:r>
          </a:p>
        </p:txBody>
      </p:sp>
      <p:sp>
        <p:nvSpPr>
          <p:cNvPr id="7" name="Arrow: Right 6"/>
          <p:cNvSpPr/>
          <p:nvPr/>
        </p:nvSpPr>
        <p:spPr>
          <a:xfrm>
            <a:off x="2693853" y="2516100"/>
            <a:ext cx="278296" cy="15683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/>
          <p:cNvSpPr/>
          <p:nvPr/>
        </p:nvSpPr>
        <p:spPr>
          <a:xfrm>
            <a:off x="4755171" y="2516099"/>
            <a:ext cx="278296" cy="15683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Arrow: Right 10"/>
          <p:cNvSpPr/>
          <p:nvPr/>
        </p:nvSpPr>
        <p:spPr>
          <a:xfrm>
            <a:off x="6608465" y="2516099"/>
            <a:ext cx="278296" cy="15683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Arrow: Right 12"/>
          <p:cNvSpPr/>
          <p:nvPr/>
        </p:nvSpPr>
        <p:spPr>
          <a:xfrm>
            <a:off x="8461759" y="2494712"/>
            <a:ext cx="278296" cy="15683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/>
          <p:cNvSpPr/>
          <p:nvPr/>
        </p:nvSpPr>
        <p:spPr>
          <a:xfrm>
            <a:off x="10669583" y="2494712"/>
            <a:ext cx="278296" cy="15683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838200" y="3600450"/>
            <a:ext cx="10515600" cy="3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Role of Each Module: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User/Input – captures the incoming request or data.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Data Collection – gathers and organizes data from the source.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Preprocessing – cleans and prepares the data.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AI Processing – performs AI/ML computation.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Decision Module – interprets results and produces a decision.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Output/Result – delivers the final result to the user.</a:t>
            </a:r>
          </a:p>
        </p:txBody>
      </p:sp>
      <p:sp>
        <p:nvSpPr>
          <p:cNvPr id="5" name="Rectangles 4"/>
          <p:cNvSpPr/>
          <p:nvPr/>
        </p:nvSpPr>
        <p:spPr>
          <a:xfrm>
            <a:off x="1274445" y="2338705"/>
            <a:ext cx="1398905" cy="51117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3035935" y="2446655"/>
            <a:ext cx="1667510" cy="34925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5042535" y="2446655"/>
            <a:ext cx="1490345" cy="36385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s 13"/>
          <p:cNvSpPr/>
          <p:nvPr/>
        </p:nvSpPr>
        <p:spPr>
          <a:xfrm>
            <a:off x="6917055" y="2416810"/>
            <a:ext cx="1480185" cy="4203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s 15"/>
          <p:cNvSpPr/>
          <p:nvPr/>
        </p:nvSpPr>
        <p:spPr>
          <a:xfrm>
            <a:off x="8737600" y="2325370"/>
            <a:ext cx="1909445" cy="49784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s 17"/>
          <p:cNvSpPr/>
          <p:nvPr/>
        </p:nvSpPr>
        <p:spPr>
          <a:xfrm>
            <a:off x="1409700" y="2943860"/>
            <a:ext cx="1828165" cy="34988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Flow chart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C7489D-E7B7-DC34-3C10-022069E0C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189" y="1699566"/>
            <a:ext cx="8336132" cy="44349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Data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662841-46BF-4B92-B901-869CBCB3B221}"/>
              </a:ext>
            </a:extLst>
          </p:cNvPr>
          <p:cNvSpPr txBox="1"/>
          <p:nvPr/>
        </p:nvSpPr>
        <p:spPr>
          <a:xfrm>
            <a:off x="838200" y="1859340"/>
            <a:ext cx="1033182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Input</a:t>
            </a:r>
          </a:p>
          <a:p>
            <a:pPr algn="ctr"/>
            <a:r>
              <a:rPr lang="en-IN" sz="2400" dirty="0"/>
              <a:t>  ↓</a:t>
            </a:r>
          </a:p>
          <a:p>
            <a:pPr algn="ctr"/>
            <a:r>
              <a:rPr lang="en-IN" sz="2400" dirty="0"/>
              <a:t>Data Collection</a:t>
            </a:r>
          </a:p>
          <a:p>
            <a:pPr algn="ctr"/>
            <a:r>
              <a:rPr lang="en-IN" sz="2400" dirty="0"/>
              <a:t>  ↓</a:t>
            </a:r>
          </a:p>
          <a:p>
            <a:pPr algn="ctr"/>
            <a:r>
              <a:rPr lang="en-IN" sz="2400" dirty="0"/>
              <a:t>Preprocessing</a:t>
            </a:r>
          </a:p>
          <a:p>
            <a:pPr algn="ctr"/>
            <a:r>
              <a:rPr lang="en-IN" sz="2400" dirty="0"/>
              <a:t>  ↓</a:t>
            </a:r>
          </a:p>
          <a:p>
            <a:pPr algn="ctr"/>
            <a:r>
              <a:rPr lang="en-IN" sz="2400" dirty="0"/>
              <a:t>Algorithm / Model</a:t>
            </a:r>
          </a:p>
          <a:p>
            <a:pPr algn="ctr"/>
            <a:r>
              <a:rPr lang="en-IN" sz="2400" dirty="0"/>
              <a:t>  ↓</a:t>
            </a:r>
          </a:p>
          <a:p>
            <a:pPr algn="ctr"/>
            <a:r>
              <a:rPr lang="en-IN" sz="2400" dirty="0"/>
              <a:t>Decision Logic</a:t>
            </a:r>
          </a:p>
          <a:p>
            <a:pPr algn="ctr"/>
            <a:r>
              <a:rPr lang="en-IN" sz="2400" dirty="0"/>
              <a:t>  ↓</a:t>
            </a:r>
          </a:p>
          <a:p>
            <a:pPr algn="ctr"/>
            <a:r>
              <a:rPr lang="en-IN" sz="2400" dirty="0"/>
              <a:t>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317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81F3AB-5DF0-3210-EB2F-A6F8BAABE6BF}"/>
              </a:ext>
            </a:extLst>
          </p:cNvPr>
          <p:cNvSpPr txBox="1"/>
          <p:nvPr/>
        </p:nvSpPr>
        <p:spPr>
          <a:xfrm>
            <a:off x="2489703" y="1779687"/>
            <a:ext cx="808474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Methodology for Algorithm &amp; Logic Identification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System Study</a:t>
            </a:r>
            <a:r>
              <a:rPr lang="en-IN" dirty="0"/>
              <a:t> – Understand the system structure and functions.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Information Collection</a:t>
            </a:r>
            <a:r>
              <a:rPr lang="en-IN" dirty="0"/>
              <a:t> – Collect source code, logs, inputs, and outputs.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Data Flow Analysis</a:t>
            </a:r>
            <a:r>
              <a:rPr lang="en-IN" dirty="0"/>
              <a:t> – Trace how data moves between modules.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Algorithm Identification</a:t>
            </a:r>
            <a:r>
              <a:rPr lang="en-IN" dirty="0"/>
              <a:t> – Identify formulas, loops, models, and processing techniques.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Logic Analysis</a:t>
            </a:r>
            <a:r>
              <a:rPr lang="en-IN" dirty="0"/>
              <a:t> – Study conditions, rules, thresholds, and decisions.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Testing &amp; Validation</a:t>
            </a:r>
            <a:r>
              <a:rPr lang="en-IN" dirty="0"/>
              <a:t> – Test with different inputs and compare the outputs.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Reconstruction</a:t>
            </a:r>
            <a:r>
              <a:rPr lang="en-IN" dirty="0"/>
              <a:t> – Document the identified algorithm and decision logic. </a:t>
            </a:r>
          </a:p>
          <a:p>
            <a:pPr>
              <a:buNone/>
            </a:pPr>
            <a:r>
              <a:rPr lang="en-IN" b="1" dirty="0"/>
              <a:t>Flow:</a:t>
            </a:r>
            <a:br>
              <a:rPr lang="en-IN" dirty="0"/>
            </a:br>
            <a:r>
              <a:rPr lang="en-IN" b="1" dirty="0"/>
              <a:t>Study → Collect → </a:t>
            </a:r>
            <a:r>
              <a:rPr lang="en-IN" b="1" dirty="0" err="1"/>
              <a:t>Analyze</a:t>
            </a:r>
            <a:r>
              <a:rPr lang="en-IN" b="1" dirty="0"/>
              <a:t> → Identify → Test → Validate → Reconstruct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317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Tools and Technologies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A47115-D69A-C971-56BE-67D82EB7E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050702"/>
              </p:ext>
            </p:extLst>
          </p:nvPr>
        </p:nvGraphicFramePr>
        <p:xfrm>
          <a:off x="838200" y="2008740"/>
          <a:ext cx="10515600" cy="3894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0390271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70052846"/>
                    </a:ext>
                  </a:extLst>
                </a:gridCol>
              </a:tblGrid>
              <a:tr h="486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Tool / 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320641"/>
                  </a:ext>
                </a:extLst>
              </a:tr>
              <a:tr h="486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Analyze algorithms and AI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708715"/>
                  </a:ext>
                </a:extLst>
              </a:tr>
              <a:tr h="486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VS Code / 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Examine and modify source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6033130"/>
                  </a:ext>
                </a:extLst>
              </a:tr>
              <a:tr h="486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Debugger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Trace program execution and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1269448"/>
                  </a:ext>
                </a:extLst>
              </a:tr>
              <a:tr h="486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Study code versions and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488687"/>
                  </a:ext>
                </a:extLst>
              </a:tr>
              <a:tr h="486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MATLAB / Simulink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Analyze mathematical and system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0726662"/>
                  </a:ext>
                </a:extLst>
              </a:tr>
              <a:tr h="486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UML / Flowchart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Represent system architecture and data 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0711938"/>
                  </a:ext>
                </a:extLst>
              </a:tr>
              <a:tr h="486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Study system </a:t>
                      </a:r>
                      <a:r>
                        <a:rPr lang="en-IN" dirty="0" err="1"/>
                        <a:t>behavior</a:t>
                      </a:r>
                      <a:r>
                        <a:rPr lang="en-IN" dirty="0"/>
                        <a:t> and outputs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1053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317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Benefits of Architecture Reconstruction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E70A0-9ED8-8B03-9236-A517A0494D8D}"/>
              </a:ext>
            </a:extLst>
          </p:cNvPr>
          <p:cNvSpPr txBox="1"/>
          <p:nvPr/>
        </p:nvSpPr>
        <p:spPr>
          <a:xfrm>
            <a:off x="1620570" y="2108743"/>
            <a:ext cx="790593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Helps to </a:t>
            </a:r>
            <a:r>
              <a:rPr lang="en-IN" sz="2400" b="1" dirty="0"/>
              <a:t>understand the existing system</a:t>
            </a:r>
            <a:r>
              <a:rPr lang="en-IN" sz="2400" dirty="0"/>
              <a:t> clearly.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Identifies the </a:t>
            </a:r>
            <a:r>
              <a:rPr lang="en-IN" sz="2400" b="1" dirty="0"/>
              <a:t>algorithms and decision-making logic</a:t>
            </a:r>
            <a:r>
              <a:rPr lang="en-IN" sz="24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Makes </a:t>
            </a:r>
            <a:r>
              <a:rPr lang="en-IN" sz="2400" b="1" dirty="0"/>
              <a:t>data flow and module interactions</a:t>
            </a:r>
            <a:r>
              <a:rPr lang="en-IN" sz="2400" dirty="0"/>
              <a:t> easier to understand.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Helps in </a:t>
            </a:r>
            <a:r>
              <a:rPr lang="en-IN" sz="2400" b="1" dirty="0"/>
              <a:t>debugging and finding errors</a:t>
            </a:r>
            <a:r>
              <a:rPr lang="en-IN" sz="24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Supports </a:t>
            </a:r>
            <a:r>
              <a:rPr lang="en-IN" sz="2400" b="1" dirty="0"/>
              <a:t>system maintenance and improvement</a:t>
            </a:r>
            <a:r>
              <a:rPr lang="en-IN" sz="24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Makes it easier to </a:t>
            </a:r>
            <a:r>
              <a:rPr lang="en-IN" sz="2400" b="1" dirty="0"/>
              <a:t>reconstruct or upgrade</a:t>
            </a:r>
            <a:r>
              <a:rPr lang="en-IN" sz="2400" dirty="0"/>
              <a:t> the system.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Reduces the time required to understand complex software.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317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07E769-B263-0DAC-B484-A1E86F61750C}"/>
              </a:ext>
            </a:extLst>
          </p:cNvPr>
          <p:cNvSpPr txBox="1"/>
          <p:nvPr/>
        </p:nvSpPr>
        <p:spPr>
          <a:xfrm>
            <a:off x="968721" y="1723103"/>
            <a:ext cx="991354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Algorithm and logic identification helps us </a:t>
            </a:r>
            <a:r>
              <a:rPr lang="en-IN" b="1" dirty="0"/>
              <a:t>understand the internal working</a:t>
            </a:r>
            <a:r>
              <a:rPr lang="en-IN" dirty="0"/>
              <a:t> of an existing system.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Reverse engineering helps identify </a:t>
            </a:r>
            <a:r>
              <a:rPr lang="en-IN" b="1" dirty="0"/>
              <a:t>algorithms, data flow, and decision-making rules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Tools such as </a:t>
            </a:r>
            <a:r>
              <a:rPr lang="en-IN" b="1" dirty="0"/>
              <a:t>Python, debuggers, Git, and MATLAB</a:t>
            </a:r>
            <a:r>
              <a:rPr lang="en-IN" dirty="0"/>
              <a:t> support the analysis.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identified logic can be </a:t>
            </a:r>
            <a:r>
              <a:rPr lang="en-IN" b="1" dirty="0"/>
              <a:t>validated and reconstructed</a:t>
            </a:r>
            <a:r>
              <a:rPr lang="en-IN" dirty="0"/>
              <a:t> for further improvement.</a:t>
            </a:r>
          </a:p>
          <a:p>
            <a:pPr>
              <a:buNone/>
            </a:pPr>
            <a:r>
              <a:rPr lang="en-IN" b="1" dirty="0"/>
              <a:t>Final Statement:</a:t>
            </a:r>
          </a:p>
          <a:p>
            <a:pPr>
              <a:buNone/>
            </a:pPr>
            <a:r>
              <a:rPr lang="en-IN" b="1" dirty="0"/>
              <a:t>“Understanding the existing logic is the key to successfully reconstructing and improving a system.”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596</Words>
  <Application>Microsoft Office PowerPoint</Application>
  <PresentationFormat>Widescreen</PresentationFormat>
  <Paragraphs>93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CO5- ASSESSMENT TOOL 2 Technical Presentation</vt:lpstr>
      <vt:lpstr>Questions</vt:lpstr>
      <vt:lpstr>Rubrics for Calculation</vt:lpstr>
      <vt:lpstr>Algorithm &amp; Logic Identification</vt:lpstr>
      <vt:lpstr>Introduction </vt:lpstr>
      <vt:lpstr>Problem Identification</vt:lpstr>
      <vt:lpstr>Reconstructed System Architecture</vt:lpstr>
      <vt:lpstr>Flow chart</vt:lpstr>
      <vt:lpstr>Data Flow</vt:lpstr>
      <vt:lpstr>Methodology</vt:lpstr>
      <vt:lpstr>Tools and Technologies</vt:lpstr>
      <vt:lpstr>Benefits of Architecture Reconstruction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venganapalli sireesha</dc:creator>
  <cp:lastModifiedBy>bb0359090@gmail.com</cp:lastModifiedBy>
  <cp:revision>4</cp:revision>
  <dcterms:created xsi:type="dcterms:W3CDTF">2026-08-27T05:05:39Z</dcterms:created>
  <dcterms:modified xsi:type="dcterms:W3CDTF">2026-08-28T04:38:20Z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151C40F4CA82802CA3C58F6A0068B3E2_43</vt:lpwstr>
  </property>
  <property fmtid="{D5CDD505-2E9C-101B-9397-08002B2CF9AE}" pid="3" name="KSOProductBuildVer">
    <vt:lpwstr>1033-6.12.2.8699</vt:lpwstr>
  </property>
</Properties>
</file>