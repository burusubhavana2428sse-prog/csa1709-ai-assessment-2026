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75" r:id="rId5"/>
    <p:sldId id="276" r:id="rId6"/>
    <p:sldId id="277" r:id="rId7"/>
    <p:sldId id="280" r:id="rId8"/>
    <p:sldId id="281" r:id="rId9"/>
    <p:sldId id="282" r:id="rId10"/>
    <p:sldId id="283" r:id="rId11"/>
    <p:sldId id="284" r:id="rId12"/>
    <p:sldId id="28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3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D1E940-802C-4DBC-BDF4-C87977589769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E149BA-7FF8-4315-82F0-93D799E8C20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59357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E149BA-7FF8-4315-82F0-93D799E8C209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83742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FCB77-B03C-4588-9808-65A0972324F1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30E2E-A50E-43DC-873D-27D2E239497D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FCB77-B03C-4588-9808-65A0972324F1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30E2E-A50E-43DC-873D-27D2E239497D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FCB77-B03C-4588-9808-65A0972324F1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30E2E-A50E-43DC-873D-27D2E239497D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FCB77-B03C-4588-9808-65A0972324F1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30E2E-A50E-43DC-873D-27D2E239497D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FCB77-B03C-4588-9808-65A0972324F1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30E2E-A50E-43DC-873D-27D2E239497D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FCB77-B03C-4588-9808-65A0972324F1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30E2E-A50E-43DC-873D-27D2E239497D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FCB77-B03C-4588-9808-65A0972324F1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30E2E-A50E-43DC-873D-27D2E239497D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FCB77-B03C-4588-9808-65A0972324F1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30E2E-A50E-43DC-873D-27D2E239497D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FCB77-B03C-4588-9808-65A0972324F1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30E2E-A50E-43DC-873D-27D2E239497D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FCB77-B03C-4588-9808-65A0972324F1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30E2E-A50E-43DC-873D-27D2E239497D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FCB77-B03C-4588-9808-65A0972324F1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630E2E-A50E-43DC-873D-27D2E239497D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6FCB77-B03C-4588-9808-65A0972324F1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630E2E-A50E-43DC-873D-27D2E239497D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311965"/>
            <a:ext cx="9399104" cy="1810371"/>
          </a:xfrm>
        </p:spPr>
        <p:txBody>
          <a:bodyPr>
            <a:normAutofit fontScale="90000"/>
          </a:bodyPr>
          <a:lstStyle/>
          <a:p>
            <a:r>
              <a:rPr lang="en-I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CO5- ASSESSMENT TOOL 2 Technical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353560"/>
            <a:ext cx="9144000" cy="771179"/>
          </a:xfrm>
        </p:spPr>
        <p:txBody>
          <a:bodyPr/>
          <a:lstStyle/>
          <a:p>
            <a:r>
              <a:rPr lang="en-I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CSA1709 - Artificial Intelligence</a:t>
            </a:r>
            <a:endParaRPr lang="en-IN" dirty="0">
              <a:latin typeface="Times New Roman" panose="02020503050405090304" pitchFamily="18" charset="0"/>
              <a:cs typeface="Times New Roman" panose="0202050305040509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524000" y="4562061"/>
            <a:ext cx="23423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GUIDED BY :</a:t>
            </a:r>
          </a:p>
          <a:p>
            <a:endParaRPr lang="en-IN" b="1" dirty="0">
              <a:latin typeface="Times New Roman" panose="02020503050405090304" pitchFamily="18" charset="0"/>
              <a:cs typeface="Times New Roman" panose="02020503050405090304" pitchFamily="18" charset="0"/>
            </a:endParaRPr>
          </a:p>
          <a:p>
            <a:r>
              <a:rPr lang="en-IN" dirty="0" err="1">
                <a:latin typeface="Times New Roman" panose="02020503050405090304" pitchFamily="18" charset="0"/>
                <a:cs typeface="Times New Roman" panose="02020503050405090304" pitchFamily="18" charset="0"/>
              </a:rPr>
              <a:t>Dr.P.Rajaram</a:t>
            </a:r>
            <a:endParaRPr lang="en-IN" dirty="0">
              <a:latin typeface="Times New Roman" panose="02020503050405090304" pitchFamily="18" charset="0"/>
              <a:cs typeface="Times New Roman" panose="0202050305040509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413472" y="4515894"/>
            <a:ext cx="2638839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PRESENTED BY :</a:t>
            </a:r>
          </a:p>
          <a:p>
            <a:endParaRPr lang="en-IN" b="1" dirty="0">
              <a:latin typeface="Times New Roman" panose="02020503050405090304" pitchFamily="18" charset="0"/>
              <a:cs typeface="Times New Roman" panose="02020503050405090304" pitchFamily="18" charset="0"/>
            </a:endParaRPr>
          </a:p>
          <a:p>
            <a:r>
              <a:rPr lang="en-IN" dirty="0" err="1">
                <a:latin typeface="Times New Roman" panose="02020503050405090304" pitchFamily="18" charset="0"/>
                <a:cs typeface="Times New Roman" panose="02020503050405090304" pitchFamily="18" charset="0"/>
              </a:rPr>
              <a:t>B.Bhavana</a:t>
            </a:r>
            <a:r>
              <a:rPr lang="en-IN" dirty="0">
                <a:latin typeface="Times New Roman" panose="02020503050405090304" pitchFamily="18" charset="0"/>
                <a:cs typeface="Times New Roman" panose="02020503050405090304" pitchFamily="18" charset="0"/>
              </a:rPr>
              <a:t>(192312428)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Questions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rcRect l="6579"/>
          <a:stretch>
            <a:fillRect/>
          </a:stretch>
        </p:blipFill>
        <p:spPr>
          <a:xfrm>
            <a:off x="838200" y="1338438"/>
            <a:ext cx="11267661" cy="482561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281" y="6280"/>
            <a:ext cx="10515600" cy="1325563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Rubrics for Calculation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880" y="894303"/>
            <a:ext cx="9816401" cy="583809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83177"/>
            <a:ext cx="10515600" cy="1325563"/>
          </a:xfrm>
        </p:spPr>
        <p:txBody>
          <a:bodyPr/>
          <a:lstStyle/>
          <a:p>
            <a:pPr algn="ctr"/>
            <a:r>
              <a:rPr lang="en-IN" dirty="0"/>
              <a:t>Algorithm &amp; Logic Identification</a:t>
            </a:r>
            <a:endParaRPr lang="en-IN" b="1" dirty="0">
              <a:latin typeface="Times New Roman" panose="02020503050405090304" pitchFamily="18" charset="0"/>
              <a:cs typeface="Times New Roman" panose="0202050305040509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38200" y="2200275"/>
            <a:ext cx="105156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lang="en-IN" sz="2400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Question</a:t>
            </a:r>
            <a:endParaRPr lang="en-IN" sz="2400" dirty="0">
              <a:latin typeface="Times New Roman" panose="02020503050405090304" pitchFamily="18" charset="0"/>
              <a:cs typeface="Times New Roman" panose="02020503050405090304" pitchFamily="18" charset="0"/>
            </a:endParaRPr>
          </a:p>
          <a:p>
            <a:pPr algn="ctr">
              <a:lnSpc>
                <a:spcPct val="100000"/>
              </a:lnSpc>
              <a:buNone/>
            </a:pPr>
            <a:r>
              <a:rPr lang="en-IN" sz="2400" i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“</a:t>
            </a:r>
            <a:r>
              <a:rPr lang="en-IN" sz="2400" dirty="0"/>
              <a:t>Reverse Engineering of a Software/AI System”</a:t>
            </a:r>
            <a:endParaRPr lang="en-IN" sz="2400" dirty="0">
              <a:latin typeface="Times New Roman" panose="02020503050405090304" pitchFamily="18" charset="0"/>
              <a:cs typeface="Times New Roman" panose="0202050305040509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Introduction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9378" y="1708272"/>
            <a:ext cx="8127859" cy="4273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IN" sz="2400" b="1" dirty="0"/>
              <a:t>Algorithm &amp; Logic Identification</a:t>
            </a:r>
            <a:r>
              <a:rPr lang="en-IN" sz="2400" dirty="0"/>
              <a:t> is the process of understanding the </a:t>
            </a:r>
            <a:r>
              <a:rPr lang="en-IN" sz="2400" b="1" dirty="0"/>
              <a:t>algorithms, rules, and decision-making methods</a:t>
            </a:r>
            <a:r>
              <a:rPr lang="en-IN" sz="2400" dirty="0"/>
              <a:t> used inside an existing software or AI system.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2400" dirty="0"/>
              <a:t>It is an important step in </a:t>
            </a:r>
            <a:r>
              <a:rPr lang="en-IN" sz="2400" b="1" dirty="0"/>
              <a:t>reverse engineering</a:t>
            </a:r>
            <a:r>
              <a:rPr lang="en-IN" sz="2400" dirty="0"/>
              <a:t>.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2400" dirty="0"/>
              <a:t>The system’s </a:t>
            </a:r>
            <a:r>
              <a:rPr lang="en-IN" sz="2400" b="1" dirty="0"/>
              <a:t>input, processing, and output</a:t>
            </a:r>
            <a:r>
              <a:rPr lang="en-IN" sz="2400" dirty="0"/>
              <a:t> are studied.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2400" dirty="0"/>
              <a:t>Code, data flow, system </a:t>
            </a:r>
            <a:r>
              <a:rPr lang="en-IN" sz="2400" dirty="0" err="1"/>
              <a:t>behavior</a:t>
            </a:r>
            <a:r>
              <a:rPr lang="en-IN" sz="2400" dirty="0"/>
              <a:t>, and conditions are </a:t>
            </a:r>
            <a:r>
              <a:rPr lang="en-IN" sz="2400" dirty="0" err="1"/>
              <a:t>analyzed</a:t>
            </a:r>
            <a:r>
              <a:rPr lang="en-IN" sz="2400" dirty="0"/>
              <a:t>.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2400" dirty="0"/>
              <a:t>The identified logic is used to </a:t>
            </a:r>
            <a:r>
              <a:rPr lang="en-IN" sz="2400" b="1" dirty="0"/>
              <a:t>reconstruct the original system</a:t>
            </a:r>
            <a:r>
              <a:rPr lang="en-IN" sz="2400" dirty="0"/>
              <a:t>.</a:t>
            </a:r>
          </a:p>
          <a:p>
            <a:pPr>
              <a:lnSpc>
                <a:spcPct val="150000"/>
              </a:lnSpc>
              <a:buNone/>
            </a:pPr>
            <a:endParaRPr lang="en-IN" sz="2400" dirty="0">
              <a:latin typeface="Times New Roman" panose="02020503050405090304" pitchFamily="18" charset="0"/>
              <a:cs typeface="Times New Roman" panose="0202050305040509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83177"/>
            <a:ext cx="10515600" cy="1325563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Problem Identification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3818" y="2128045"/>
            <a:ext cx="7933082" cy="4273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2400" dirty="0"/>
              <a:t>The internal working of an existing software/AI system may not be clearly documented.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2400" dirty="0"/>
              <a:t>It is difficult to identify the </a:t>
            </a:r>
            <a:r>
              <a:rPr lang="en-IN" sz="2400" b="1" dirty="0"/>
              <a:t>algorithms and decision-making rules</a:t>
            </a:r>
            <a:r>
              <a:rPr lang="en-IN" sz="2400" dirty="0"/>
              <a:t> directly.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2400" dirty="0"/>
              <a:t>The relationship between </a:t>
            </a:r>
            <a:r>
              <a:rPr lang="en-IN" sz="2400" b="1" dirty="0"/>
              <a:t>input, processing, and output</a:t>
            </a:r>
            <a:r>
              <a:rPr lang="en-IN" sz="2400" dirty="0"/>
              <a:t> needs to be understood.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2400" dirty="0"/>
              <a:t>Different modules may use different algorithms and logic.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2400" dirty="0"/>
              <a:t>Therefore, </a:t>
            </a:r>
            <a:r>
              <a:rPr lang="en-IN" sz="2400" b="1" dirty="0"/>
              <a:t>reverse engineering techniques</a:t>
            </a:r>
            <a:r>
              <a:rPr lang="en-IN" sz="2400" dirty="0"/>
              <a:t> are required to identify and reconstruct the system logic.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IN" sz="2400" dirty="0">
              <a:latin typeface="Times New Roman" panose="02020503050405090304" pitchFamily="18" charset="0"/>
              <a:cs typeface="Times New Roman" panose="0202050305040509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600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Flow chart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AC7489D-E7B7-DC34-3C10-022069E0C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3189" y="1699566"/>
            <a:ext cx="8336132" cy="443490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Data Flow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662841-46BF-4B92-B901-869CBCB3B221}"/>
              </a:ext>
            </a:extLst>
          </p:cNvPr>
          <p:cNvSpPr txBox="1"/>
          <p:nvPr/>
        </p:nvSpPr>
        <p:spPr>
          <a:xfrm>
            <a:off x="838200" y="1859340"/>
            <a:ext cx="1033182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400" dirty="0"/>
              <a:t>Input</a:t>
            </a:r>
          </a:p>
          <a:p>
            <a:pPr algn="ctr"/>
            <a:r>
              <a:rPr lang="en-IN" sz="2400" dirty="0"/>
              <a:t>  ↓</a:t>
            </a:r>
          </a:p>
          <a:p>
            <a:pPr algn="ctr"/>
            <a:r>
              <a:rPr lang="en-IN" sz="2400" dirty="0"/>
              <a:t>Data Collection</a:t>
            </a:r>
          </a:p>
          <a:p>
            <a:pPr algn="ctr"/>
            <a:r>
              <a:rPr lang="en-IN" sz="2400" dirty="0"/>
              <a:t>  ↓</a:t>
            </a:r>
          </a:p>
          <a:p>
            <a:pPr algn="ctr"/>
            <a:r>
              <a:rPr lang="en-IN" sz="2400" dirty="0"/>
              <a:t>Preprocessing</a:t>
            </a:r>
          </a:p>
          <a:p>
            <a:pPr algn="ctr"/>
            <a:r>
              <a:rPr lang="en-IN" sz="2400" dirty="0"/>
              <a:t>  ↓</a:t>
            </a:r>
          </a:p>
          <a:p>
            <a:pPr algn="ctr"/>
            <a:r>
              <a:rPr lang="en-IN" sz="2400" dirty="0"/>
              <a:t>Algorithm / Model</a:t>
            </a:r>
          </a:p>
          <a:p>
            <a:pPr algn="ctr"/>
            <a:r>
              <a:rPr lang="en-IN" sz="2400" dirty="0"/>
              <a:t>  ↓</a:t>
            </a:r>
          </a:p>
          <a:p>
            <a:pPr algn="ctr"/>
            <a:r>
              <a:rPr lang="en-IN" sz="2400" dirty="0"/>
              <a:t>Decision Logic</a:t>
            </a:r>
          </a:p>
          <a:p>
            <a:pPr algn="ctr"/>
            <a:r>
              <a:rPr lang="en-IN" sz="2400" dirty="0"/>
              <a:t>  ↓</a:t>
            </a:r>
          </a:p>
          <a:p>
            <a:pPr algn="ctr"/>
            <a:r>
              <a:rPr lang="en-IN" sz="2400" dirty="0"/>
              <a:t>Output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83177"/>
            <a:ext cx="10515600" cy="1325563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Methodology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81F3AB-5DF0-3210-EB2F-A6F8BAABE6BF}"/>
              </a:ext>
            </a:extLst>
          </p:cNvPr>
          <p:cNvSpPr txBox="1"/>
          <p:nvPr/>
        </p:nvSpPr>
        <p:spPr>
          <a:xfrm>
            <a:off x="2489703" y="1779687"/>
            <a:ext cx="808474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Methodology for Algorithm &amp; Logic Identification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b="1" dirty="0"/>
              <a:t>System Study</a:t>
            </a:r>
            <a:r>
              <a:rPr lang="en-IN" dirty="0"/>
              <a:t> – Understand the system structure and functions.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b="1" dirty="0"/>
              <a:t>Information Collection</a:t>
            </a:r>
            <a:r>
              <a:rPr lang="en-IN" dirty="0"/>
              <a:t> – Collect source code, logs, inputs, and outputs.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b="1" dirty="0"/>
              <a:t>Data Flow Analysis</a:t>
            </a:r>
            <a:r>
              <a:rPr lang="en-IN" dirty="0"/>
              <a:t> – Trace how data moves between modules.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b="1" dirty="0"/>
              <a:t>Algorithm Identification</a:t>
            </a:r>
            <a:r>
              <a:rPr lang="en-IN" dirty="0"/>
              <a:t> – Identify formulas, loops, models, and processing techniques.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b="1" dirty="0"/>
              <a:t>Logic Analysis</a:t>
            </a:r>
            <a:r>
              <a:rPr lang="en-IN" dirty="0"/>
              <a:t> – Study conditions, rules, thresholds, and decisions.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b="1" dirty="0"/>
              <a:t>Testing &amp; Validation</a:t>
            </a:r>
            <a:r>
              <a:rPr lang="en-IN" dirty="0"/>
              <a:t> – Test with different inputs and compare the outputs.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b="1" dirty="0"/>
              <a:t>Reconstruction</a:t>
            </a:r>
            <a:r>
              <a:rPr lang="en-IN" dirty="0"/>
              <a:t> – Document the identified algorithm and decision logic. </a:t>
            </a:r>
          </a:p>
          <a:p>
            <a:pPr>
              <a:buNone/>
            </a:pPr>
            <a:r>
              <a:rPr lang="en-IN" b="1" dirty="0"/>
              <a:t>Flow:</a:t>
            </a:r>
            <a:br>
              <a:rPr lang="en-IN" dirty="0"/>
            </a:br>
            <a:r>
              <a:rPr lang="en-IN" b="1" dirty="0"/>
              <a:t>Study → Collect → </a:t>
            </a:r>
            <a:r>
              <a:rPr lang="en-IN" b="1" dirty="0" err="1"/>
              <a:t>Analyze</a:t>
            </a:r>
            <a:r>
              <a:rPr lang="en-IN" b="1" dirty="0"/>
              <a:t> → Identify → Test → Validate → Reconstruct</a:t>
            </a:r>
            <a:endParaRPr lang="en-IN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83177"/>
            <a:ext cx="10515600" cy="1325563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Tools and Technologies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9A47115-D69A-C971-56BE-67D82EB7E1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5050702"/>
              </p:ext>
            </p:extLst>
          </p:nvPr>
        </p:nvGraphicFramePr>
        <p:xfrm>
          <a:off x="838200" y="2008740"/>
          <a:ext cx="10515600" cy="3894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90390271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970052846"/>
                    </a:ext>
                  </a:extLst>
                </a:gridCol>
              </a:tblGrid>
              <a:tr h="4867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Tool / Technology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Purpose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1320641"/>
                  </a:ext>
                </a:extLst>
              </a:tr>
              <a:tr h="4867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Python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Analyze algorithms and AI models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708715"/>
                  </a:ext>
                </a:extLst>
              </a:tr>
              <a:tr h="4867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VS Code / IDE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Examine and modify source code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6033130"/>
                  </a:ext>
                </a:extLst>
              </a:tr>
              <a:tr h="4867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Debugger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Trace program execution and logic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71269448"/>
                  </a:ext>
                </a:extLst>
              </a:tr>
              <a:tr h="4867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Git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Study code versions and changes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1488687"/>
                  </a:ext>
                </a:extLst>
              </a:tr>
              <a:tr h="4867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MATLAB / Simulink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Analyze mathematical and system models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0726662"/>
                  </a:ext>
                </a:extLst>
              </a:tr>
              <a:tr h="4867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UML / Flowchart Tools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Represent system architecture and data flow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0711938"/>
                  </a:ext>
                </a:extLst>
              </a:tr>
              <a:tr h="4867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Log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Study system </a:t>
                      </a:r>
                      <a:r>
                        <a:rPr lang="en-IN" dirty="0" err="1"/>
                        <a:t>behavior</a:t>
                      </a:r>
                      <a:r>
                        <a:rPr lang="en-IN" dirty="0"/>
                        <a:t> and outputs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61053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83177"/>
            <a:ext cx="10515600" cy="1325563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Benefits of Architecture Reconstruction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BE70A0-9ED8-8B03-9236-A517A0494D8D}"/>
              </a:ext>
            </a:extLst>
          </p:cNvPr>
          <p:cNvSpPr txBox="1"/>
          <p:nvPr/>
        </p:nvSpPr>
        <p:spPr>
          <a:xfrm>
            <a:off x="1620570" y="2108743"/>
            <a:ext cx="790593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IN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Helps to </a:t>
            </a:r>
            <a:r>
              <a:rPr lang="en-IN" sz="2400" b="1" dirty="0"/>
              <a:t>understand the existing system</a:t>
            </a:r>
            <a:r>
              <a:rPr lang="en-IN" sz="2400" dirty="0"/>
              <a:t> clearly.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Identifies the </a:t>
            </a:r>
            <a:r>
              <a:rPr lang="en-IN" sz="2400" b="1" dirty="0"/>
              <a:t>algorithms and decision-making logic</a:t>
            </a:r>
            <a:r>
              <a:rPr lang="en-IN" sz="2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Makes </a:t>
            </a:r>
            <a:r>
              <a:rPr lang="en-IN" sz="2400" b="1" dirty="0"/>
              <a:t>data flow and module interactions</a:t>
            </a:r>
            <a:r>
              <a:rPr lang="en-IN" sz="2400" dirty="0"/>
              <a:t> easier to understand.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Helps in </a:t>
            </a:r>
            <a:r>
              <a:rPr lang="en-IN" sz="2400" b="1" dirty="0"/>
              <a:t>debugging and finding errors</a:t>
            </a:r>
            <a:r>
              <a:rPr lang="en-IN" sz="2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Supports </a:t>
            </a:r>
            <a:r>
              <a:rPr lang="en-IN" sz="2400" b="1" dirty="0"/>
              <a:t>system maintenance and improvement</a:t>
            </a:r>
            <a:r>
              <a:rPr lang="en-IN" sz="2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Makes it easier to </a:t>
            </a:r>
            <a:r>
              <a:rPr lang="en-IN" sz="2400" b="1" dirty="0"/>
              <a:t>reconstruct or upgrade</a:t>
            </a:r>
            <a:r>
              <a:rPr lang="en-IN" sz="2400" dirty="0"/>
              <a:t> the system.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Reduces the time required to understand complex software.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83177"/>
            <a:ext cx="10515600" cy="1325563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Conclusion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07E769-B263-0DAC-B484-A1E86F61750C}"/>
              </a:ext>
            </a:extLst>
          </p:cNvPr>
          <p:cNvSpPr txBox="1"/>
          <p:nvPr/>
        </p:nvSpPr>
        <p:spPr>
          <a:xfrm>
            <a:off x="968721" y="1723103"/>
            <a:ext cx="991354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IN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Algorithm and logic identification helps us </a:t>
            </a:r>
            <a:r>
              <a:rPr lang="en-IN" b="1" dirty="0"/>
              <a:t>understand the internal working</a:t>
            </a:r>
            <a:r>
              <a:rPr lang="en-IN" dirty="0"/>
              <a:t> of an existing system.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Reverse engineering helps identify </a:t>
            </a:r>
            <a:r>
              <a:rPr lang="en-IN" b="1" dirty="0"/>
              <a:t>algorithms, data flow, and decision-making rules</a:t>
            </a:r>
            <a:r>
              <a:rPr lang="en-IN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Tools such as </a:t>
            </a:r>
            <a:r>
              <a:rPr lang="en-IN" b="1" dirty="0"/>
              <a:t>Python, debuggers, Git, and MATLAB</a:t>
            </a:r>
            <a:r>
              <a:rPr lang="en-IN" dirty="0"/>
              <a:t> support the analysis.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The identified logic can be </a:t>
            </a:r>
            <a:r>
              <a:rPr lang="en-IN" b="1" dirty="0"/>
              <a:t>validated and reconstructed</a:t>
            </a:r>
            <a:r>
              <a:rPr lang="en-IN" dirty="0"/>
              <a:t> for further improvement.</a:t>
            </a:r>
          </a:p>
          <a:p>
            <a:pPr>
              <a:buNone/>
            </a:pPr>
            <a:r>
              <a:rPr lang="en-IN" b="1" dirty="0"/>
              <a:t>Final Statement:</a:t>
            </a:r>
          </a:p>
          <a:p>
            <a:pPr>
              <a:buNone/>
            </a:pPr>
            <a:r>
              <a:rPr lang="en-IN" b="1" dirty="0"/>
              <a:t>“Understanding the existing logic is the key to successfully reconstructing and improving a system.”</a:t>
            </a:r>
            <a:endParaRPr lang="en-IN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513</Words>
  <Application>Microsoft Office PowerPoint</Application>
  <PresentationFormat>Widescreen</PresentationFormat>
  <Paragraphs>83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Times New Roman</vt:lpstr>
      <vt:lpstr>Wingdings</vt:lpstr>
      <vt:lpstr>Office Theme</vt:lpstr>
      <vt:lpstr>CO5- ASSESSMENT TOOL 2 Technical Presentation</vt:lpstr>
      <vt:lpstr>Questions</vt:lpstr>
      <vt:lpstr>Rubrics for Calculation</vt:lpstr>
      <vt:lpstr>Algorithm &amp; Logic Identification</vt:lpstr>
      <vt:lpstr>Introduction </vt:lpstr>
      <vt:lpstr>Problem Identification</vt:lpstr>
      <vt:lpstr>Flow chart</vt:lpstr>
      <vt:lpstr>Data Flow</vt:lpstr>
      <vt:lpstr>Methodology</vt:lpstr>
      <vt:lpstr>Tools and Technologies</vt:lpstr>
      <vt:lpstr>Benefits of Architecture Reconstruction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venganapalli sireesha</dc:creator>
  <cp:lastModifiedBy>bb0359090@gmail.com</cp:lastModifiedBy>
  <cp:revision>5</cp:revision>
  <dcterms:created xsi:type="dcterms:W3CDTF">2026-08-27T05:05:39Z</dcterms:created>
  <dcterms:modified xsi:type="dcterms:W3CDTF">2026-08-28T04:44:02Z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151C40F4CA82802CA3C58F6A0068B3E2_43</vt:lpwstr>
  </property>
  <property fmtid="{D5CDD505-2E9C-101B-9397-08002B2CF9AE}" pid="3" name="KSOProductBuildVer">
    <vt:lpwstr>1033-6.12.2.8699</vt:lpwstr>
  </property>
</Properties>
</file>